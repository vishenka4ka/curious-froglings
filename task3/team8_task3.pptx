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BD689-318D-44A3-9E19-E0E3FC895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36807F-1720-472A-A9B3-C89146868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F8D57C-100A-45CA-9D67-F3EB552D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7C6C42-3778-4586-896E-150BB8DA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40D793-3BCC-40B6-8BBD-1010C6DF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5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C483A-771B-4E8A-BA2C-3252AD01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90467-DFB8-43F4-A06F-1BE82C8D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6EF59F-FD12-47A0-80AF-D3D139AF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9614C4-7C4F-489A-91FC-AA570B36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FCE9B-8C93-4D68-A79D-DA3CD128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18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57C24-70AE-463A-80B4-5835C2E00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0F3928-B2FA-4E3A-B535-D72C2E528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53E487-AF0D-4A3D-BD2E-97FF3D41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43CE09-B4F9-4384-8441-CC8BF317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6052A9-4B19-4697-90DE-8CD1131B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73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E16A5-1F1C-4779-9D7E-83A1240D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605BD1-9E00-414E-B24B-213C51DD4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339782-2B64-4F34-AA7D-D2F4768BC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4821BF-C8CA-490F-959C-9F824314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D9A1FA-430A-4CEC-876F-2CA8970C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B687E9-ABC2-4814-967F-DE150F06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2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BC69B-9532-4509-93C2-E46C48BF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6BE121-0A47-4A8B-B8A3-856B31BC9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0D8FB1-64BB-4659-BAAA-CA4A4EC59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4A5FA2-6511-471C-87D8-8A6C8EF62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074B13-3F0D-4CB7-AA33-33E948C5F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30177D-08F7-4C7D-BFAE-7AEDE32F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BC21D1-4EFE-4A17-B698-8A893FE6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E4CD29-7C4E-4C44-A0D3-9BCE88FB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15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DD60E-1380-479B-94F5-1B6C9965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345C6-D644-4614-8D3F-D8C29FBF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2D7F01-9945-4EDB-ADE5-BB834935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34B351-60B2-425D-BCFE-CA3CB2D8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1AFC0A-8726-486C-B729-95E71CDB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601754-38FB-460D-B68F-BD7C8827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D59F51-7B67-4BCF-8DAD-C118816F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A57BF-DD0B-40F4-B0A8-E8286BA6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A2BE9-4930-47B6-8FAA-BE030F32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44D951-34E9-4F38-9C49-E9BB8CEB9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6A3FF3-F2CC-4FB1-A528-26F4363B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B78A94-403B-40AB-9186-DF19BDA7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EC994-382D-4186-ADA0-67F291CD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1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BA605-ABFA-4DE1-96B2-B33433C8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9B8088-ACAE-4206-999C-9985FCD32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CC6AAE-B58F-48ED-B08B-78D8B4065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846C8F-69B2-4658-AB6B-6F9A3F8A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9B2886-5E4F-4B0A-8930-D9BFA84B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C65D7D-532A-487B-8A9A-F3CFE6C3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67BE3-A0BA-4B37-829E-5BD0E23D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4CCD14-9E1E-422B-AA0A-1F52C7DF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7E5818-A146-4FD6-87F7-CCD919C3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4163E-3C44-405D-962E-30DB4375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BFB49B-FAC9-483B-8FF0-3532CF93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21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1FD0E43-0BEA-41B3-AC07-D995C2AB0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987204-8F3C-4EAF-AB18-12D63AC2B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9BFF9A-3AE4-4616-88EA-87029359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B5D0B-2AF6-41E9-908D-1ABCB2EF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38C06-8AEF-49D1-88C5-05B0CB28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85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2CEDA-90D4-4E9B-960A-5624F275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5F222F-4092-48F2-B090-A88C5A42E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EE635-CBC3-4541-B7D2-A39BE551B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A4745A-4AE4-4ED4-BD0C-6BBED1A3B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DD73A-51F3-4581-B299-C6AE0B328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66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94E3B-A3AE-4754-A931-6E77CDA5D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Задача №3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F7DF3-89CE-4186-9BAF-5DF210E43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Curious </a:t>
            </a:r>
            <a:r>
              <a:rPr lang="en-US" dirty="0" err="1"/>
              <a:t>froglings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659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88125-F56B-41A2-BFDF-7E78CA51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96" y="106417"/>
            <a:ext cx="10515600" cy="701565"/>
          </a:xfrm>
        </p:spPr>
        <p:txBody>
          <a:bodyPr>
            <a:normAutofit/>
          </a:bodyPr>
          <a:lstStyle/>
          <a:p>
            <a:r>
              <a:rPr lang="ru-RU" sz="3200" dirty="0"/>
              <a:t>Предобработка изображения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0F443F-9FDC-4885-8A46-3930F665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975" y="2696380"/>
            <a:ext cx="10515600" cy="424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+mj-lt"/>
              </a:rPr>
              <a:t>Изображение представленное матрицей преобразуем в вектор 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C4334AB8-C4ED-447A-A80B-2E7CA8A74EE9}"/>
              </a:ext>
            </a:extLst>
          </p:cNvPr>
          <p:cNvSpPr txBox="1">
            <a:spLocks/>
          </p:cNvSpPr>
          <p:nvPr/>
        </p:nvSpPr>
        <p:spPr>
          <a:xfrm>
            <a:off x="942975" y="900408"/>
            <a:ext cx="10515600" cy="424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>
                <a:latin typeface="+mj-lt"/>
              </a:rPr>
              <a:t>Представим изображение матрицей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067D80-D29C-497F-813F-DC8AD8827235}"/>
                  </a:ext>
                </a:extLst>
              </p:cNvPr>
              <p:cNvSpPr txBox="1"/>
              <p:nvPr/>
            </p:nvSpPr>
            <p:spPr>
              <a:xfrm>
                <a:off x="32516" y="1424192"/>
                <a:ext cx="6095342" cy="1070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i="0" smtClean="0">
                          <a:latin typeface="Cambria Math" panose="02040503050406030204" pitchFamily="18" charset="0"/>
                        </a:rPr>
                        <m:t>Image</m:t>
                      </m:r>
                      <m:r>
                        <a:rPr lang="ru-RU" sz="240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𝑛𝑚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4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067D80-D29C-497F-813F-DC8AD8827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6" y="1424192"/>
                <a:ext cx="6095342" cy="10700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3BFD4E-9665-461A-93A9-9C5911E6A740}"/>
                  </a:ext>
                </a:extLst>
              </p:cNvPr>
              <p:cNvSpPr txBox="1"/>
              <p:nvPr/>
            </p:nvSpPr>
            <p:spPr>
              <a:xfrm>
                <a:off x="470997" y="3323434"/>
                <a:ext cx="9211002" cy="1070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ru-RU" sz="24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𝑛𝑚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400" i="0">
                          <a:latin typeface="Cambria Math" panose="02040503050406030204" pitchFamily="18" charset="0"/>
                        </a:rPr>
                        <m:t> →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ru-RU" sz="2400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ru-RU" sz="2400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3BFD4E-9665-461A-93A9-9C5911E6A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97" y="3323434"/>
                <a:ext cx="9211002" cy="10700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Объект 2">
                <a:extLst>
                  <a:ext uri="{FF2B5EF4-FFF2-40B4-BE49-F238E27FC236}">
                    <a16:creationId xmlns:a16="http://schemas.microsoft.com/office/drawing/2014/main" id="{9E1F524D-346E-4FB5-8215-BA59396105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8811" y="1706018"/>
                <a:ext cx="5596758" cy="6877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- </a:t>
                </a:r>
                <a:r>
                  <a:rPr lang="ru-RU" sz="2000" dirty="0">
                    <a:latin typeface="+mj-lt"/>
                  </a:rPr>
                  <a:t>интенсивность цвета </a:t>
                </a:r>
                <a:r>
                  <a:rPr lang="en-US" sz="2000" dirty="0">
                    <a:latin typeface="+mj-lt"/>
                  </a:rPr>
                  <a:t>[0, 255]</a:t>
                </a:r>
                <a:endParaRPr lang="ru-RU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Объект 2">
                <a:extLst>
                  <a:ext uri="{FF2B5EF4-FFF2-40B4-BE49-F238E27FC236}">
                    <a16:creationId xmlns:a16="http://schemas.microsoft.com/office/drawing/2014/main" id="{9E1F524D-346E-4FB5-8215-BA5939610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1" y="1706018"/>
                <a:ext cx="5596758" cy="687750"/>
              </a:xfrm>
              <a:prstGeom prst="rect">
                <a:avLst/>
              </a:prstGeom>
              <a:blipFill>
                <a:blip r:embed="rId4"/>
                <a:stretch>
                  <a:fillRect t="-88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Объект 2">
            <a:extLst>
              <a:ext uri="{FF2B5EF4-FFF2-40B4-BE49-F238E27FC236}">
                <a16:creationId xmlns:a16="http://schemas.microsoft.com/office/drawing/2014/main" id="{55A70749-1765-4018-9DC7-9590F3F6C587}"/>
              </a:ext>
            </a:extLst>
          </p:cNvPr>
          <p:cNvSpPr txBox="1">
            <a:spLocks/>
          </p:cNvSpPr>
          <p:nvPr/>
        </p:nvSpPr>
        <p:spPr>
          <a:xfrm>
            <a:off x="942975" y="4746760"/>
            <a:ext cx="10515600" cy="424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>
                <a:latin typeface="+mj-lt"/>
              </a:rPr>
              <a:t>Введём новые обозначение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DF227C-33B7-4A00-8131-9CC20C126A5B}"/>
                  </a:ext>
                </a:extLst>
              </p:cNvPr>
              <p:cNvSpPr txBox="1"/>
              <p:nvPr/>
            </p:nvSpPr>
            <p:spPr>
              <a:xfrm>
                <a:off x="403991" y="5398236"/>
                <a:ext cx="114477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ru-RU" sz="2400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ru-RU" sz="2400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ru-RU" sz="2400" i="0">
                          <a:latin typeface="Cambria Math" panose="02040503050406030204" pitchFamily="18" charset="0"/>
                        </a:rPr>
                        <m:t>→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ru-RU" sz="2400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ru-RU" sz="24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ru-RU" sz="2400" i="0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ru-RU" sz="2400" i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ru-RU" sz="2400" i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DF227C-33B7-4A00-8131-9CC20C126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91" y="5398236"/>
                <a:ext cx="1144773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39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56846-6600-4138-82FD-46A24CA3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93" y="302064"/>
            <a:ext cx="10515600" cy="580806"/>
          </a:xfrm>
        </p:spPr>
        <p:txBody>
          <a:bodyPr>
            <a:normAutofit/>
          </a:bodyPr>
          <a:lstStyle/>
          <a:p>
            <a:r>
              <a:rPr lang="ru-RU" sz="3200" dirty="0"/>
              <a:t>Создание модели </a:t>
            </a:r>
            <a:r>
              <a:rPr lang="ru-RU" sz="3200" dirty="0" err="1"/>
              <a:t>Изинга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403006" y="1053734"/>
                <a:ext cx="2789511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06" y="1053734"/>
                <a:ext cx="2789511" cy="1100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0DAC7-7A79-47D0-8BB9-1EA72C37FFE3}"/>
                  </a:ext>
                </a:extLst>
              </p:cNvPr>
              <p:cNvSpPr txBox="1"/>
              <p:nvPr/>
            </p:nvSpPr>
            <p:spPr>
              <a:xfrm>
                <a:off x="2947493" y="1053734"/>
                <a:ext cx="8171138" cy="9464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 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0DAC7-7A79-47D0-8BB9-1EA72C37F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493" y="1053734"/>
                <a:ext cx="8171138" cy="946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FE883B-2440-4BF8-817C-362FCC3D6282}"/>
                  </a:ext>
                </a:extLst>
              </p:cNvPr>
              <p:cNvSpPr txBox="1"/>
              <p:nvPr/>
            </p:nvSpPr>
            <p:spPr>
              <a:xfrm>
                <a:off x="577411" y="2540812"/>
                <a:ext cx="10769163" cy="2911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>
                    <a:latin typeface="+mj-lt"/>
                  </a:rPr>
                  <a:t>В рамках задачи, будем считать, что черным пикселям соответствует -1, белым 1</a:t>
                </a:r>
                <a:r>
                  <a:rPr lang="en-US" sz="2000" dirty="0">
                    <a:latin typeface="+mj-lt"/>
                  </a:rPr>
                  <a:t>.</a:t>
                </a:r>
                <a:endParaRPr lang="ru-RU" sz="2000" dirty="0">
                  <a:latin typeface="+mj-lt"/>
                </a:endParaRPr>
              </a:p>
              <a:p>
                <a:r>
                  <a:rPr lang="ru-RU" sz="2000" dirty="0">
                    <a:latin typeface="+mj-lt"/>
                  </a:rPr>
                  <a:t>С точки зрения минимизации энергии системы, члены стоящие на диагонали не представляют  интереса, так как квадрат поглощает знак. Поэтому задача сводиться к определению вида коэффициентов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sz="2000" dirty="0"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+mj-lt"/>
                  </a:rPr>
                  <a:t>  </a:t>
                </a:r>
              </a:p>
              <a:p>
                <a:r>
                  <a:rPr lang="ru-RU" sz="2000" dirty="0">
                    <a:latin typeface="+mj-lt"/>
                  </a:rPr>
                  <a:t>Представим произвольный вектор, компоненты которого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1;−1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:r>
                  <a:rPr lang="ru-RU" sz="2000" dirty="0">
                    <a:latin typeface="+mj-lt"/>
                  </a:rPr>
                  <a:t>. Необходимо, чтобы функция уменьшая свои значения при совпадении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+mj-lt"/>
                  </a:rPr>
                  <a:t> с соответствующими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2000" dirty="0">
                    <a:latin typeface="+mj-lt"/>
                  </a:rPr>
                  <a:t> Одним из вариантов достичь этого, является выражение коэффициента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sz="2000" dirty="0">
                    <a:latin typeface="+mj-lt"/>
                  </a:rPr>
                  <a:t> как произведение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>
                    <a:latin typeface="+mj-lt"/>
                  </a:rPr>
                  <a:t>)*</a:t>
                </a:r>
                <a:r>
                  <a:rPr lang="ru-RU" sz="2000" dirty="0"/>
                  <a:t> (-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000" dirty="0"/>
                  <a:t>).  </a:t>
                </a:r>
              </a:p>
              <a:p>
                <a:r>
                  <a:rPr lang="ru-RU" sz="2000" dirty="0">
                    <a:latin typeface="+mj-lt"/>
                  </a:rPr>
                  <a:t>Таким образом при увеличении количества совпадений, второе слагаемое будет вносить всё больший вклад в сумму.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FE883B-2440-4BF8-817C-362FCC3D6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11" y="2540812"/>
                <a:ext cx="10769163" cy="2911695"/>
              </a:xfrm>
              <a:prstGeom prst="rect">
                <a:avLst/>
              </a:prstGeom>
              <a:blipFill>
                <a:blip r:embed="rId4"/>
                <a:stretch>
                  <a:fillRect l="-623" t="-1258" b="-29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42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07AE6-0BF3-45EB-9D8A-938162E03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590"/>
            <a:ext cx="10515600" cy="762109"/>
          </a:xfrm>
        </p:spPr>
        <p:txBody>
          <a:bodyPr>
            <a:normAutofit/>
          </a:bodyPr>
          <a:lstStyle/>
          <a:p>
            <a:r>
              <a:rPr lang="ru-RU" sz="3200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6EA2D-EA0D-4EC4-AD5E-401BB62E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2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+mj-lt"/>
              </a:rPr>
              <a:t>Алгоритм продемонстрировал свою работоспособность на примере изображений малого размера( до 100 пикселей ). Однако далее, время необходимое на расчёт, резко возрастало.</a:t>
            </a:r>
          </a:p>
          <a:p>
            <a:pPr marL="0" indent="0">
              <a:buNone/>
            </a:pPr>
            <a:endParaRPr lang="ru-RU" sz="2000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6B4CCC-0344-48C3-A3F9-B30A38712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32" y="2282143"/>
            <a:ext cx="3147848" cy="32444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8644F1-FEF9-456C-9E27-EFFD4D1C01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49" b="3005"/>
          <a:stretch/>
        </p:blipFill>
        <p:spPr>
          <a:xfrm>
            <a:off x="4118086" y="2167033"/>
            <a:ext cx="3337034" cy="34747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FE5568-4173-4A10-8ACB-57E67AF26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096" y="2180493"/>
            <a:ext cx="3794614" cy="35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9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B2EC6-0F3F-4393-8495-E2C9FB42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880"/>
            <a:ext cx="10515600" cy="880351"/>
          </a:xfrm>
        </p:spPr>
        <p:txBody>
          <a:bodyPr>
            <a:normAutofit/>
          </a:bodyPr>
          <a:lstStyle/>
          <a:p>
            <a:r>
              <a:rPr lang="ru-RU" sz="3200" dirty="0"/>
              <a:t>Проблематика предложенного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20E105-7A30-4697-A207-72196DEF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65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+mj-lt"/>
              </a:rPr>
              <a:t>Главной проблемой нашего решения, является высокая скорость возрастания сложности вычисления. Реализация квантового отжига для изображения, потребует количества </a:t>
            </a:r>
            <a:r>
              <a:rPr lang="ru-RU" sz="2000" dirty="0" err="1">
                <a:latin typeface="+mj-lt"/>
              </a:rPr>
              <a:t>кубит</a:t>
            </a:r>
            <a:r>
              <a:rPr lang="ru-RU" sz="2000" dirty="0">
                <a:latin typeface="+mj-lt"/>
              </a:rPr>
              <a:t> равного количеству пикселей. Реализация подобного алгоритма, даже на специально приспособленных для подобных задач, тензорных вычислителях является ещё более затратной. Как с точки зрения вычисления результата матричного умножения, так и с точки зрения вариации произвольного вектора. Число возможных конфигураций которого, по мере роста разрешения изображения, устремляется вверх по степенному закону. При этом задача </a:t>
            </a:r>
            <a:r>
              <a:rPr lang="ru-RU" sz="2000" dirty="0" err="1">
                <a:latin typeface="+mj-lt"/>
              </a:rPr>
              <a:t>маскинга</a:t>
            </a:r>
            <a:r>
              <a:rPr lang="ru-RU" sz="2000" dirty="0">
                <a:latin typeface="+mj-lt"/>
              </a:rPr>
              <a:t> тривиально разрешима с использованием классических библиотек машинного зрения. Как вывод применение квантовых алгоритмов к данному примеру лишено всяческого смысла.</a:t>
            </a: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ru-RU" sz="2000" dirty="0">
                <a:latin typeface="+mj-lt"/>
              </a:rPr>
              <a:t>Проблемой конкретно нашего решения является низкая точность решения на полутоновых изображениях. Не оптимальное </a:t>
            </a:r>
            <a:r>
              <a:rPr lang="ru-RU" sz="2000">
                <a:latin typeface="+mj-lt"/>
              </a:rPr>
              <a:t>использование ресурсов.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9471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220</Words>
  <Application>Microsoft Office PowerPoint</Application>
  <PresentationFormat>Широкоэкранный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Тема Office</vt:lpstr>
      <vt:lpstr>Задача №3</vt:lpstr>
      <vt:lpstr>Предобработка изображения</vt:lpstr>
      <vt:lpstr>Создание модели Изинга</vt:lpstr>
      <vt:lpstr>Результаты</vt:lpstr>
      <vt:lpstr>Проблематика предложенного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№3</dc:title>
  <dc:creator>Alexsey Gorshkou</dc:creator>
  <cp:lastModifiedBy>User</cp:lastModifiedBy>
  <cp:revision>1</cp:revision>
  <dcterms:created xsi:type="dcterms:W3CDTF">2023-11-23T20:59:17Z</dcterms:created>
  <dcterms:modified xsi:type="dcterms:W3CDTF">2023-11-24T04:25:03Z</dcterms:modified>
</cp:coreProperties>
</file>