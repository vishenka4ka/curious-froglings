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3" r:id="rId5"/>
    <p:sldId id="262" r:id="rId6"/>
    <p:sldId id="264" r:id="rId7"/>
    <p:sldId id="265" r:id="rId8"/>
    <p:sldId id="266" r:id="rId9"/>
    <p:sldId id="267" r:id="rId10"/>
    <p:sldId id="259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4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8BD689-318D-44A3-9E19-E0E3FC895A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336807F-1720-472A-A9B3-C891468682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F8D57C-100A-45CA-9D67-F3EB552DE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27C6C42-3778-4586-896E-150BB8DA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A40D793-3BCC-40B6-8BBD-1010C6DF3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40751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BC483A-771B-4E8A-BA2C-3252AD01C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890467-DFB8-43F4-A06F-1BE82C8D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96EF59F-FD12-47A0-80AF-D3D139AFBC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99614C4-7C4F-489A-91FC-AA570B36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FCE9B-8C93-4D68-A79D-DA3CD128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2184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457C24-70AE-463A-80B4-5835C2E00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B0F3928-B2FA-4E3A-B535-D72C2E528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53E487-AF0D-4A3D-BD2E-97FF3D41C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43CE09-B4F9-4384-8441-CC8BF3170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B6052A9-4B19-4697-90DE-8CD1131B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4734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BE16A5-1F1C-4779-9D7E-83A1240D7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605BD1-9E00-414E-B24B-213C51DD4F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339782-2B64-4F34-AA7D-D2F4768BC7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4821BF-C8CA-490F-959C-9F824314E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D9A1FA-430A-4CEC-876F-2CA8970CC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FB687E9-ABC2-4814-967F-DE150F067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2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1BC69B-9532-4509-93C2-E46C48BF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6BE121-0A47-4A8B-B8A3-856B31BC9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0D8FB1-64BB-4659-BAAA-CA4A4EC599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54A5FA2-6511-471C-87D8-8A6C8EF62C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2074B13-3F0D-4CB7-AA33-33E948C5F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430177D-08F7-4C7D-BFAE-7AEDE32FB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0BC21D1-4EFE-4A17-B698-8A893FE6C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2E4CD29-7C4E-4C44-A0D3-9BCE88FB2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9157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2DD60E-1380-479B-94F5-1B6C9965A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E0345C6-D644-4614-8D3F-D8C29FBF2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C2D7F01-9945-4EDB-ADE5-BB8349356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D34B351-60B2-425D-BCFE-CA3CB2D89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51AFC0A-8726-486C-B729-95E71CDBB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A601754-38FB-460D-B68F-BD7C8827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ED59F51-7B67-4BCF-8DAD-C118816F3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64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BA57BF-DD0B-40F4-B0A8-E8286BA6D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9A2BE9-4930-47B6-8FAA-BE030F3231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F44D951-34E9-4F38-9C49-E9BB8CEB94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16A3FF3-F2CC-4FB1-A528-26F4363B8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3B78A94-403B-40AB-9186-DF19BDA7A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EC994-382D-4186-ADA0-67F291CD4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7106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CBA605-ABFA-4DE1-96B2-B33433C8D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9B8088-ACAE-4206-999C-9985FCD32C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5CC6AAE-B58F-48ED-B08B-78D8B40650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8846C8F-69B2-4658-AB6B-6F9A3F8AE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C9B2886-5E4F-4B0A-8930-D9BFA84B2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C65D7D-532A-487B-8A9A-F3CFE6C3B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58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C67BE3-A0BA-4B37-829E-5BD0E23D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64CCD14-9E1E-422B-AA0A-1F52C7DFC0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7E5818-A146-4FD6-87F7-CCD919C37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794163E-3C44-405D-962E-30DB43755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BFB49B-FAC9-483B-8FF0-3532CF93C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211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1FD0E43-0BEA-41B3-AC07-D995C2AB0F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9987204-8F3C-4EAF-AB18-12D63AC2B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9BFF9A-3AE4-4616-88EA-870293592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52B5D0B-2AF6-41E9-908D-1ABCB2EF6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B38C06-8AEF-49D1-88C5-05B0CB28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6858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12CEDA-90D4-4E9B-960A-5624F275E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F5F222F-4092-48F2-B090-A88C5A42E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EEE635-CBC3-4541-B7D2-A39BE551B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851D9C-390C-4A71-9253-1E768B290609}" type="datetimeFigureOut">
              <a:rPr lang="ru-RU" smtClean="0"/>
              <a:t>24.11.2023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A4745A-4AE4-4ED4-BD0C-6BBED1A3B6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BDD73A-51F3-4581-B299-C6AE0B328B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9B545F-DB2A-457C-B678-A0C1254F81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466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694E3B-A3AE-4754-A931-6E77CDA5DB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Задача </a:t>
            </a:r>
            <a:r>
              <a:rPr lang="ru-RU" dirty="0" smtClean="0"/>
              <a:t>№1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5BF7DF3-89CE-4186-9BAF-5DF210E438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Curious </a:t>
            </a:r>
            <a:r>
              <a:rPr lang="en-US" dirty="0" err="1"/>
              <a:t>froglings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5659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456846-6600-4138-82FD-46A24CA3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93" y="302064"/>
            <a:ext cx="10515600" cy="580806"/>
          </a:xfrm>
        </p:spPr>
        <p:txBody>
          <a:bodyPr>
            <a:normAutofit/>
          </a:bodyPr>
          <a:lstStyle/>
          <a:p>
            <a:r>
              <a:rPr lang="ru-RU" sz="3200" dirty="0"/>
              <a:t>Создание модели </a:t>
            </a:r>
            <a:r>
              <a:rPr lang="en-US" sz="3200" dirty="0" smtClean="0"/>
              <a:t>QUBO</a:t>
            </a:r>
            <a:endParaRPr lang="ru-RU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3696427" y="2405929"/>
                <a:ext cx="2789511" cy="113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</m:e>
                          </m:d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427" y="2405929"/>
                <a:ext cx="2789511" cy="11308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0DAC7-7A79-47D0-8BB9-1EA72C37FFE3}"/>
                  </a:ext>
                </a:extLst>
              </p:cNvPr>
              <p:cNvSpPr txBox="1"/>
              <p:nvPr/>
            </p:nvSpPr>
            <p:spPr>
              <a:xfrm>
                <a:off x="2947493" y="1053734"/>
                <a:ext cx="8171138" cy="94641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ru-RU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  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+2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A60DAC7-7A79-47D0-8BB9-1EA72C37F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7493" y="1053734"/>
                <a:ext cx="8171138" cy="9464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FE883B-2440-4BF8-817C-362FCC3D6282}"/>
                  </a:ext>
                </a:extLst>
              </p:cNvPr>
              <p:cNvSpPr txBox="1"/>
              <p:nvPr/>
            </p:nvSpPr>
            <p:spPr>
              <a:xfrm>
                <a:off x="704193" y="3926267"/>
                <a:ext cx="10769163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ru-RU" sz="2000" dirty="0" smtClean="0">
                    <a:latin typeface="+mj-lt"/>
                  </a:rPr>
                  <a:t>В рамках задачи, будем считать, что</a:t>
                </a:r>
                <a:r>
                  <a:rPr lang="en-US" sz="2000" dirty="0" smtClean="0">
                    <a:latin typeface="+mj-lt"/>
                  </a:rPr>
                  <a:t> </a:t>
                </a:r>
                <a:r>
                  <a:rPr lang="ru-RU" sz="2000" dirty="0" smtClean="0">
                    <a:latin typeface="+mj-lt"/>
                  </a:rPr>
                  <a:t>бинарные переменные – наличие определенной пары в определенный час определенного дня. (сначала идут 2 группы, затем 10 предметов, по которым можно однозначно определить преподавателей, после – лекционные часы за 12 недели (в рассмотрении задачи не учитываем воскресенье) Наличие лекции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 = 1</a:t>
                </a:r>
                <a:r>
                  <a:rPr lang="ru-RU" sz="2000" dirty="0" smtClean="0">
                    <a:latin typeface="+mj-lt"/>
                  </a:rPr>
                  <a:t>, отсутствие -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= </a:t>
                </a:r>
                <a:r>
                  <a:rPr lang="ru-RU" sz="2000" dirty="0" smtClean="0"/>
                  <a:t>0</a:t>
                </a:r>
                <a:r>
                  <a:rPr lang="en-US" sz="2000" dirty="0" smtClean="0">
                    <a:latin typeface="+mj-lt"/>
                  </a:rPr>
                  <a:t>.</a:t>
                </a:r>
                <a:endParaRPr lang="ru-RU" sz="2000" dirty="0">
                  <a:latin typeface="+mj-lt"/>
                </a:endParaRPr>
              </a:p>
              <a:p>
                <a:endParaRPr lang="ru-RU" sz="2000" dirty="0">
                  <a:latin typeface="+mj-lt"/>
                </a:endParaRPr>
              </a:p>
              <a:p>
                <a:r>
                  <a:rPr lang="ru-RU" sz="2000" dirty="0">
                    <a:latin typeface="+mj-lt"/>
                  </a:rPr>
                  <a:t>Представим произвольный вектор, компоненты которого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ru-RU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ru-RU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0;1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</a:t>
                </a:r>
                <a:r>
                  <a:rPr lang="ru-RU" sz="2000" dirty="0" smtClean="0">
                    <a:latin typeface="+mj-lt"/>
                  </a:rPr>
                  <a:t>.</a:t>
                </a:r>
                <a:r>
                  <a:rPr lang="en-US" sz="2000" dirty="0">
                    <a:latin typeface="+mj-lt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000" dirty="0" smtClean="0">
                    <a:latin typeface="+mj-lt"/>
                  </a:rPr>
                  <a:t>возьмем равными единице.</a:t>
                </a:r>
                <a:endParaRPr lang="ru-RU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8FE883B-2440-4BF8-817C-362FCC3D62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193" y="3926267"/>
                <a:ext cx="10769163" cy="2246769"/>
              </a:xfrm>
              <a:prstGeom prst="rect">
                <a:avLst/>
              </a:prstGeom>
              <a:blipFill>
                <a:blip r:embed="rId4"/>
                <a:stretch>
                  <a:fillRect l="-623" t="-1355" b="-379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403005" y="2405929"/>
                <a:ext cx="2789511" cy="113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005" y="2405929"/>
                <a:ext cx="2789511" cy="113082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555406" y="1206134"/>
                <a:ext cx="2789511" cy="11308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406" y="1206134"/>
                <a:ext cx="2789511" cy="113082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098695" y="2740507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=&gt;</a:t>
            </a:r>
            <a:endParaRPr lang="ru-R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6887591" y="2405929"/>
                <a:ext cx="2789511" cy="11008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4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ru-RU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b>
                            <m:sSubPr>
                              <m:ctrlPr>
                                <a:rPr lang="ru-RU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7591" y="2405929"/>
                <a:ext cx="2789511" cy="110087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142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Бинарные переменные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 smtClean="0">
                <a:latin typeface="+mj-lt"/>
              </a:rPr>
              <a:t>i</a:t>
            </a:r>
            <a:r>
              <a:rPr lang="en-US" sz="2000" dirty="0" smtClean="0">
                <a:latin typeface="+mj-lt"/>
              </a:rPr>
              <a:t> = 1…1920</a:t>
            </a:r>
          </a:p>
          <a:p>
            <a:pPr marL="0" indent="0">
              <a:buNone/>
            </a:pPr>
            <a:r>
              <a:rPr lang="en-US" sz="2000" dirty="0" err="1" smtClean="0">
                <a:latin typeface="+mj-lt"/>
              </a:rPr>
              <a:t>i</a:t>
            </a:r>
            <a:r>
              <a:rPr lang="en-US" sz="2000" dirty="0" smtClean="0">
                <a:latin typeface="+mj-lt"/>
              </a:rPr>
              <a:t> = 1…960 – 1 </a:t>
            </a:r>
            <a:r>
              <a:rPr lang="ru-RU" sz="2000" dirty="0" smtClean="0">
                <a:latin typeface="+mj-lt"/>
              </a:rPr>
              <a:t>группа</a:t>
            </a:r>
            <a:endParaRPr lang="en-US" sz="2000" dirty="0" smtClean="0">
              <a:latin typeface="+mj-lt"/>
            </a:endParaRPr>
          </a:p>
          <a:p>
            <a:pPr marL="0" indent="0">
              <a:buNone/>
            </a:pPr>
            <a:r>
              <a:rPr lang="en-US" sz="2000" dirty="0" smtClean="0">
                <a:latin typeface="+mj-lt"/>
              </a:rPr>
              <a:t>	</a:t>
            </a:r>
            <a:r>
              <a:rPr lang="en-US" sz="2000" dirty="0" err="1" smtClean="0">
                <a:latin typeface="+mj-lt"/>
              </a:rPr>
              <a:t>i</a:t>
            </a:r>
            <a:r>
              <a:rPr lang="en-US" sz="2000" dirty="0" smtClean="0">
                <a:latin typeface="+mj-lt"/>
              </a:rPr>
              <a:t> = 1..96 – </a:t>
            </a:r>
            <a:r>
              <a:rPr lang="ru-RU" sz="2000" dirty="0" smtClean="0">
                <a:latin typeface="+mj-lt"/>
              </a:rPr>
              <a:t>распр. 1 предмета 1 </a:t>
            </a:r>
            <a:r>
              <a:rPr lang="ru-RU" sz="2000" dirty="0" err="1" smtClean="0">
                <a:latin typeface="+mj-lt"/>
              </a:rPr>
              <a:t>препод</a:t>
            </a:r>
            <a:r>
              <a:rPr lang="ru-RU" sz="2000" dirty="0" smtClean="0">
                <a:latin typeface="+mj-lt"/>
              </a:rPr>
              <a:t>. на 2 недели</a:t>
            </a:r>
          </a:p>
          <a:p>
            <a:pPr marL="0" indent="0">
              <a:buNone/>
            </a:pPr>
            <a:r>
              <a:rPr lang="ru-RU" sz="2000" dirty="0" smtClean="0">
                <a:latin typeface="+mj-lt"/>
              </a:rPr>
              <a:t>	…</a:t>
            </a:r>
          </a:p>
          <a:p>
            <a:pPr marL="0" indent="0">
              <a:buNone/>
            </a:pPr>
            <a:r>
              <a:rPr lang="ru-RU" sz="2000" dirty="0" smtClean="0">
                <a:latin typeface="+mj-lt"/>
              </a:rPr>
              <a:t>	</a:t>
            </a:r>
            <a:r>
              <a:rPr lang="en-US" sz="2000" dirty="0" err="1" smtClean="0">
                <a:latin typeface="+mj-lt"/>
              </a:rPr>
              <a:t>i</a:t>
            </a:r>
            <a:r>
              <a:rPr lang="en-US" sz="2000" dirty="0" smtClean="0">
                <a:latin typeface="+mj-lt"/>
              </a:rPr>
              <a:t> = 865…960 - </a:t>
            </a:r>
            <a:r>
              <a:rPr lang="ru-RU" sz="2000" dirty="0" smtClean="0">
                <a:latin typeface="+mj-lt"/>
              </a:rPr>
              <a:t>распр.</a:t>
            </a:r>
            <a:r>
              <a:rPr lang="en-US" sz="2000" dirty="0" smtClean="0">
                <a:latin typeface="+mj-lt"/>
              </a:rPr>
              <a:t> 2</a:t>
            </a:r>
            <a:r>
              <a:rPr lang="ru-RU" sz="2000" dirty="0" smtClean="0">
                <a:latin typeface="+mj-lt"/>
              </a:rPr>
              <a:t> предмета </a:t>
            </a:r>
            <a:r>
              <a:rPr lang="en-US" sz="2000" dirty="0" smtClean="0">
                <a:latin typeface="+mj-lt"/>
              </a:rPr>
              <a:t>5</a:t>
            </a:r>
            <a:r>
              <a:rPr lang="ru-RU" sz="2000" dirty="0" smtClean="0">
                <a:latin typeface="+mj-lt"/>
              </a:rPr>
              <a:t> </a:t>
            </a:r>
            <a:r>
              <a:rPr lang="ru-RU" sz="2000" dirty="0" err="1" smtClean="0">
                <a:latin typeface="+mj-lt"/>
              </a:rPr>
              <a:t>препод</a:t>
            </a:r>
            <a:r>
              <a:rPr lang="ru-RU" sz="2000" dirty="0" smtClean="0">
                <a:latin typeface="+mj-lt"/>
              </a:rPr>
              <a:t>. на 2 недели</a:t>
            </a:r>
            <a:endParaRPr lang="en-US" sz="2000" dirty="0" smtClean="0">
              <a:latin typeface="+mj-lt"/>
            </a:endParaRPr>
          </a:p>
          <a:p>
            <a:pPr marL="0" indent="0">
              <a:buNone/>
            </a:pPr>
            <a:r>
              <a:rPr lang="en-US" sz="2000" dirty="0" err="1" smtClean="0">
                <a:latin typeface="+mj-lt"/>
              </a:rPr>
              <a:t>i</a:t>
            </a:r>
            <a:r>
              <a:rPr lang="en-US" sz="2000" dirty="0" smtClean="0">
                <a:latin typeface="+mj-lt"/>
              </a:rPr>
              <a:t> = 961…1920 – 2 </a:t>
            </a:r>
            <a:r>
              <a:rPr lang="ru-RU" sz="2000" dirty="0" smtClean="0">
                <a:latin typeface="+mj-lt"/>
              </a:rPr>
              <a:t>группа (распределение ролей бинарных переменных аналогично, как и для первой группы)</a:t>
            </a:r>
            <a:endParaRPr lang="en-US" sz="2000" dirty="0" smtClean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5581529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В день может быть поставлено не более 6 лекций в расписании группы.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382827"/>
            <a:ext cx="2957945" cy="4834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 smtClean="0">
                <a:latin typeface="+mj-lt"/>
              </a:rPr>
              <a:t>Для </a:t>
            </a:r>
            <a:r>
              <a:rPr lang="en-US" sz="2000" dirty="0" smtClean="0">
                <a:latin typeface="+mj-lt"/>
              </a:rPr>
              <a:t>n</a:t>
            </a:r>
            <a:r>
              <a:rPr lang="ru-RU" sz="2000" dirty="0" smtClean="0">
                <a:latin typeface="+mj-lt"/>
              </a:rPr>
              <a:t>-го дня (</a:t>
            </a:r>
            <a:r>
              <a:rPr lang="en-US" sz="2000" dirty="0" smtClean="0">
                <a:latin typeface="+mj-lt"/>
              </a:rPr>
              <a:t>n = 1…12):</a:t>
            </a:r>
            <a:endParaRPr lang="ru-RU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3655291" y="1929047"/>
                <a:ext cx="4306455" cy="1185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19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+96</m:t>
                              </m:r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en-US" sz="2400">
                                  <a:latin typeface="Cambria Math" panose="02040503050406030204" pitchFamily="18" charset="0"/>
                                </a:rPr>
                                <m:t>)+8(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−1)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96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+ 8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≤6</m:t>
                          </m:r>
                          <m:r>
                            <m:rPr>
                              <m:nor/>
                            </m:rPr>
                            <a:rPr lang="ru-RU" sz="2400" dirty="0"/>
                            <m:t> </m:t>
                          </m:r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91" y="1929047"/>
                <a:ext cx="4306455" cy="11859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3916218"/>
                <a:ext cx="367440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dirty="0" smtClean="0">
                    <a:latin typeface="+mj-lt"/>
                  </a:rPr>
                  <a:t>Соответствующая квадратичная </a:t>
                </a:r>
                <a:endParaRPr lang="en-US" sz="2000" dirty="0" smtClean="0">
                  <a:latin typeface="+mj-lt"/>
                </a:endParaRPr>
              </a:p>
              <a:p>
                <a:r>
                  <a:rPr lang="ru-RU" sz="2000" dirty="0" smtClean="0">
                    <a:latin typeface="+mj-lt"/>
                  </a:rPr>
                  <a:t>форма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: </a:t>
                </a:r>
                <a:endParaRPr lang="ru-RU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16218"/>
                <a:ext cx="3674404" cy="707886"/>
              </a:xfrm>
              <a:prstGeom prst="rect">
                <a:avLst/>
              </a:prstGeom>
              <a:blipFill>
                <a:blip r:embed="rId3"/>
                <a:stretch>
                  <a:fillRect l="-1827" t="-4274" r="-831" b="-136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5202382" y="3677210"/>
                <a:ext cx="4306455" cy="1185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19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k</m:t>
                                      </m:r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)+8(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−1)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96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+ 8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m:rPr>
                                      <m:nor/>
                                    </m:rPr>
                                    <a:rPr lang="ru-RU" sz="2400" dirty="0"/>
                                    <m:t> </m:t>
                                  </m:r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ru-RU" sz="2400" dirty="0"/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j</m:t>
                                  </m:r>
                                  <m:r>
                                    <a:rPr lang="ru-RU" sz="24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m:rPr>
                                  <m:nor/>
                                </m:rPr>
                                <a:rPr lang="en-US" sz="2400" dirty="0"/>
                                <m:t>− 6)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382" y="3677210"/>
                <a:ext cx="4306455" cy="1185902"/>
              </a:xfrm>
              <a:prstGeom prst="rect">
                <a:avLst/>
              </a:prstGeom>
              <a:blipFill>
                <a:blip r:embed="rId4"/>
                <a:stretch>
                  <a:fillRect r="-2927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3970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В день не может быть более двух занятий по одному предмету у </a:t>
            </a:r>
            <a:r>
              <a:rPr lang="ru-RU" sz="2800" dirty="0" smtClean="0"/>
              <a:t>группы</a:t>
            </a:r>
            <a:r>
              <a:rPr lang="ru-RU" sz="2800" dirty="0"/>
              <a:t>.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382827"/>
            <a:ext cx="2957945" cy="6467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000" dirty="0" smtClean="0">
                <a:latin typeface="+mj-lt"/>
              </a:rPr>
              <a:t>Для </a:t>
            </a:r>
            <a:r>
              <a:rPr lang="en-US" sz="2000" dirty="0" smtClean="0">
                <a:latin typeface="+mj-lt"/>
              </a:rPr>
              <a:t>n</a:t>
            </a:r>
            <a:r>
              <a:rPr lang="ru-RU" sz="2000" dirty="0" smtClean="0">
                <a:latin typeface="+mj-lt"/>
              </a:rPr>
              <a:t>-го дня (</a:t>
            </a:r>
            <a:r>
              <a:rPr lang="en-US" sz="2000" dirty="0" smtClean="0">
                <a:latin typeface="+mj-lt"/>
              </a:rPr>
              <a:t>n = 1…12) </a:t>
            </a:r>
            <a:r>
              <a:rPr lang="ru-RU" sz="2000" dirty="0" smtClean="0">
                <a:latin typeface="+mj-lt"/>
              </a:rPr>
              <a:t>и </a:t>
            </a:r>
            <a:r>
              <a:rPr lang="en-US" sz="2000" dirty="0" smtClean="0">
                <a:latin typeface="+mj-lt"/>
              </a:rPr>
              <a:t>k-</a:t>
            </a:r>
            <a:r>
              <a:rPr lang="ru-RU" sz="2000" dirty="0" smtClean="0">
                <a:latin typeface="+mj-lt"/>
              </a:rPr>
              <a:t>той лекции</a:t>
            </a:r>
            <a:r>
              <a:rPr lang="en-US" sz="2000" dirty="0" smtClean="0">
                <a:latin typeface="+mj-lt"/>
              </a:rPr>
              <a:t>:</a:t>
            </a:r>
            <a:endParaRPr lang="ru-RU" sz="2000" dirty="0">
              <a:latin typeface="+mj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3655291" y="1929047"/>
                <a:ext cx="4306455" cy="1185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/>
                            </m:rP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+96</m:t>
                          </m:r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en-US" sz="2400">
                              <a:latin typeface="Cambria Math" panose="02040503050406030204" pitchFamily="18" charset="0"/>
                            </a:rPr>
                            <m:t>)+8(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−1)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96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+ 8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≤2</m:t>
                      </m:r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5291" y="1929047"/>
                <a:ext cx="4306455" cy="11859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3916218"/>
                <a:ext cx="367440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000" dirty="0" smtClean="0">
                    <a:latin typeface="+mj-lt"/>
                  </a:rPr>
                  <a:t>Соответствующая квадратичная </a:t>
                </a:r>
                <a:endParaRPr lang="en-US" sz="2000" dirty="0" smtClean="0">
                  <a:latin typeface="+mj-lt"/>
                </a:endParaRPr>
              </a:p>
              <a:p>
                <a:r>
                  <a:rPr lang="ru-RU" sz="2000" dirty="0" smtClean="0">
                    <a:latin typeface="+mj-lt"/>
                  </a:rPr>
                  <a:t>форма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 smtClean="0">
                    <a:latin typeface="+mj-lt"/>
                  </a:rPr>
                  <a:t>: </a:t>
                </a:r>
                <a:endParaRPr lang="ru-RU" sz="20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916218"/>
                <a:ext cx="3674404" cy="707886"/>
              </a:xfrm>
              <a:prstGeom prst="rect">
                <a:avLst/>
              </a:prstGeom>
              <a:blipFill>
                <a:blip r:embed="rId3"/>
                <a:stretch>
                  <a:fillRect l="-1827" t="-4274" r="-831" b="-136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5202382" y="3677210"/>
                <a:ext cx="4306455" cy="1184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sty m:val="p"/>
                                  <m:brk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  <m:r>
                                <a:rPr lang="ru-RU" sz="240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19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/>
                                        </m:r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  <m: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+96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k</m:t>
                                          </m:r>
                                        </m:e>
                                      </m:d>
                                      <m: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+8</m:t>
                                      </m:r>
                                      <m:d>
                                        <m:d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e>
                                      </m:d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96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+ 8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ru-RU" sz="2400" dirty="0"/>
                                        <m:t>+</m:t>
                                      </m:r>
                                      <m:nary>
                                        <m:naryPr>
                                          <m:chr m:val="∑"/>
                                          <m:limLoc m:val="undOvr"/>
                                          <m:ctrlP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m:rPr>
                                              <m:sty m:val="p"/>
                                              <m:brk/>
                                            </m:rPr>
                                            <a:rPr lang="en-US" sz="2400">
                                              <a:latin typeface="Cambria Math" panose="02040503050406030204" pitchFamily="18" charset="0"/>
                                            </a:rPr>
                                            <m:t>j</m:t>
                                          </m:r>
                                          <m:r>
                                            <a:rPr lang="ru-RU" sz="2400">
                                              <a:latin typeface="Cambria Math" panose="02040503050406030204" pitchFamily="18" charset="0"/>
                                            </a:rPr>
                                            <m:t>=</m:t>
                                          </m:r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  <m:sup>
                                          <m:r>
                                            <a:rPr lang="ru-RU" sz="240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p>
                                        <m:e>
                                          <m:sSup>
                                            <m:sSupPr>
                                              <m:ctrl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p>
                                          </m:sSup>
                                          <m:sSub>
                                            <m:sSubPr>
                                              <m:ctrlPr>
                                                <a:rPr lang="en-US" sz="240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</m:sub>
                                          </m:sSub>
                                        </m:e>
                                      </m:nary>
                                      <m:r>
                                        <m:rPr>
                                          <m:nor/>
                                        </m:rPr>
                                        <a:rPr lang="en-US" sz="2400" dirty="0"/>
                                        <m:t>−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ru-RU" sz="2400" dirty="0"/>
                                        <m:t>2</m:t>
                                      </m:r>
                                    </m:e>
                                  </m:nary>
                                  <m:r>
                                    <a:rPr lang="ru-RU" sz="24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ru-RU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ru-RU" sz="2400" dirty="0"/>
                                <m:t> 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2382" y="3677210"/>
                <a:ext cx="4306455" cy="1184555"/>
              </a:xfrm>
              <a:prstGeom prst="rect">
                <a:avLst/>
              </a:prstGeom>
              <a:blipFill>
                <a:blip r:embed="rId4"/>
                <a:stretch>
                  <a:fillRect r="-261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8379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2800" dirty="0"/>
              <a:t>Так получилось, что преподаватель n1 не может вести лекции в среду,</a:t>
            </a:r>
            <a:br>
              <a:rPr lang="ru-RU" sz="2800" dirty="0"/>
            </a:br>
            <a:r>
              <a:rPr lang="ru-RU" sz="2800" dirty="0"/>
              <a:t>а n2 в понедельник, а n3 никак не может работать по субботам, n4, n5 –</a:t>
            </a:r>
            <a:br>
              <a:rPr lang="ru-RU" sz="2800" dirty="0"/>
            </a:br>
            <a:r>
              <a:rPr lang="ru-RU" sz="2800" dirty="0"/>
              <a:t>не могут вести занятия по вторникам</a:t>
            </a:r>
            <a:r>
              <a:rPr lang="ru-RU" sz="2800" dirty="0" smtClean="0"/>
              <a:t>.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2015970"/>
                <a:ext cx="57805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 smtClean="0">
                    <a:latin typeface="+mj-lt"/>
                  </a:rPr>
                  <a:t>Соответствующая квадратичная форма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+mj-lt"/>
                  </a:rPr>
                  <a:t>: </a:t>
                </a:r>
                <a:endParaRPr lang="ru-R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15970"/>
                <a:ext cx="5780557" cy="461665"/>
              </a:xfrm>
              <a:prstGeom prst="rect">
                <a:avLst/>
              </a:prstGeom>
              <a:blipFill>
                <a:blip r:embed="rId2"/>
                <a:stretch>
                  <a:fillRect l="-1688" t="-10667" r="-633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838200" y="2879907"/>
                <a:ext cx="10804954" cy="28320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17+48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24+48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977+48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984+48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93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200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1153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1160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425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432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1385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1392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585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592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1545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1552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ru-RU" sz="20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/>
                                        </m:rPr>
                                        <a:rPr lang="en-US" sz="2000">
                                          <a:latin typeface="Cambria Math" panose="02040503050406030204" pitchFamily="18" charset="0"/>
                                        </a:rPr>
                                        <m:t>i</m:t>
                                      </m:r>
                                      <m:r>
                                        <a:rPr lang="ru-RU" sz="20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769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784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+48</m:t>
                                      </m:r>
                                      <m:r>
                                        <a:rPr lang="en-US" sz="20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+96</m:t>
                                      </m:r>
                                      <m:r>
                                        <a:rPr lang="en-US" sz="20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0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sty m:val="p"/>
                                      <m:brk/>
                                    </m:rPr>
                                    <a:rPr lang="en-US" sz="200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  <m:r>
                                    <a:rPr lang="ru-RU" sz="2000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1729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1744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+48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0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))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79907"/>
                <a:ext cx="10804954" cy="283205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51851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800" dirty="0"/>
              <a:t>По требованию учебной программы для каждого предмета должно</a:t>
            </a:r>
            <a:br>
              <a:rPr lang="ru-RU" sz="2800" dirty="0"/>
            </a:br>
            <a:r>
              <a:rPr lang="ru-RU" sz="2800" dirty="0"/>
              <a:t>быть выделено 4 часа за период T = 2 недели для каждой группы.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2918268"/>
                <a:ext cx="578055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 smtClean="0">
                    <a:latin typeface="+mj-lt"/>
                  </a:rPr>
                  <a:t>Соответствующая квадратичная форма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+mj-lt"/>
                  </a:rPr>
                  <a:t>: </a:t>
                </a:r>
                <a:endParaRPr lang="ru-R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918268"/>
                <a:ext cx="5780557" cy="461665"/>
              </a:xfrm>
              <a:prstGeom prst="rect">
                <a:avLst/>
              </a:prstGeom>
              <a:blipFill>
                <a:blip r:embed="rId2"/>
                <a:stretch>
                  <a:fillRect l="-1688" t="-10667" r="-633" b="-306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6618757" y="2502755"/>
                <a:ext cx="2784317" cy="11387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ru-RU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/>
                                    </m:r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=1+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96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+96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−4)</m:t>
                              </m:r>
                            </m:e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8757" y="2502755"/>
                <a:ext cx="2784317" cy="113877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4954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503671"/>
            <a:ext cx="10515600" cy="1325563"/>
          </a:xfrm>
        </p:spPr>
        <p:txBody>
          <a:bodyPr>
            <a:normAutofit/>
          </a:bodyPr>
          <a:lstStyle/>
          <a:p>
            <a:r>
              <a:rPr lang="ru-RU" sz="2800" dirty="0"/>
              <a:t>Каждый преподаватель имеет ограниченное число часов в неделю </a:t>
            </a:r>
            <a:r>
              <a:rPr lang="ru-RU" sz="2800" dirty="0" smtClean="0"/>
              <a:t>на</a:t>
            </a:r>
            <a:r>
              <a:rPr lang="en-US" sz="2800" dirty="0" smtClean="0"/>
              <a:t> </a:t>
            </a:r>
            <a:r>
              <a:rPr lang="ru-RU" sz="2800" dirty="0" smtClean="0"/>
              <a:t>работу </a:t>
            </a:r>
            <a:r>
              <a:rPr lang="ru-RU" sz="2800" dirty="0"/>
              <a:t>E ≤ </a:t>
            </a:r>
            <a:r>
              <a:rPr lang="ru-RU" sz="2800" dirty="0" smtClean="0"/>
              <a:t>20</a:t>
            </a:r>
            <a:endParaRPr lang="ru-R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8200" y="2413133"/>
                <a:ext cx="584948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ru-RU" sz="2400" dirty="0" smtClean="0">
                    <a:latin typeface="+mj-lt"/>
                  </a:rPr>
                  <a:t>Соответствующая квадратичная форма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+mj-lt"/>
                  </a:rPr>
                  <a:t>: </a:t>
                </a:r>
                <a:endParaRPr lang="ru-RU" sz="2400" dirty="0"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413133"/>
                <a:ext cx="5849486" cy="461665"/>
              </a:xfrm>
              <a:prstGeom prst="rect">
                <a:avLst/>
              </a:prstGeom>
              <a:blipFill>
                <a:blip r:embed="rId2"/>
                <a:stretch>
                  <a:fillRect l="-1668" t="-10526" b="-289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/>
              <p:nvPr/>
            </p:nvSpPr>
            <p:spPr>
              <a:xfrm>
                <a:off x="838200" y="3393622"/>
                <a:ext cx="4664047" cy="12813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RU" sz="24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sz="24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sz="2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4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  <m:e>
                                      <m:d>
                                        <m:dPr>
                                          <m:ctrlP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/>
                                                </m:rP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1+192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+48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+96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48+192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+48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+96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  <m:r>
                                            <a:rPr lang="en-US" sz="2400" b="0" i="1" smtClean="0">
                                              <a:latin typeface="Cambria Math" panose="02040503050406030204" pitchFamily="18" charset="0"/>
                                            </a:rPr>
                                            <m:t>+</m:t>
                                          </m:r>
                                          <m:nary>
                                            <m:naryPr>
                                              <m:chr m:val="∑"/>
                                              <m:limLoc m:val="undOvr"/>
                                              <m:ctrlPr>
                                                <a:rPr lang="ru-RU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naryPr>
                                            <m:sub>
                                              <m:r>
                                                <m:rPr>
                                                  <m:brk/>
                                                </m:rP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=</m:t>
                                              </m:r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961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+192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+48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+96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sz="24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100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8+192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𝑛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+48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𝑗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+96</m:t>
                                              </m:r>
                                              <m:r>
                                                <a:rPr lang="en-US" sz="2400" i="1">
                                                  <a:latin typeface="Cambria Math" panose="02040503050406030204" pitchFamily="18" charset="0"/>
                                                </a:rPr>
                                                <m:t>𝑘</m:t>
                                              </m:r>
                                            </m:sup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ru-RU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</m:t>
                                                  </m:r>
                                                </m:sub>
                                              </m:sSub>
                                            </m:e>
                                          </m:nary>
                                        </m:e>
                                      </m:d>
                                    </m:e>
                                  </m:nary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RU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sty m:val="p"/>
                                          <m:brk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j</m:t>
                                      </m:r>
                                      <m:r>
                                        <a:rPr lang="ru-RU" sz="2400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e>
                                        <m:sup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p>
                                      </m:sSup>
                                      <m:sSub>
                                        <m:sSubPr>
                                          <m:ctrlP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en-US" sz="2400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−20)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ru-RU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048C4DE-95CD-49C3-9E03-D20A117377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393622"/>
                <a:ext cx="4664047" cy="1281376"/>
              </a:xfrm>
              <a:prstGeom prst="rect">
                <a:avLst/>
              </a:prstGeom>
              <a:blipFill>
                <a:blip r:embed="rId3"/>
                <a:stretch>
                  <a:fillRect r="-1129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047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Решение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4143998"/>
                <a:ext cx="10515600" cy="1416292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ru-RU" sz="2400" dirty="0" smtClean="0">
                    <a:latin typeface="+mj-lt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 smtClean="0">
                    <a:latin typeface="+mj-lt"/>
                  </a:rPr>
                  <a:t> -</a:t>
                </a:r>
                <a:r>
                  <a:rPr lang="ru-RU" sz="2400" dirty="0" smtClean="0">
                    <a:latin typeface="+mj-lt"/>
                  </a:rPr>
                  <a:t> некоторые вещественные коэффициенты, соответствующие важности условия и его приоритету.</a:t>
                </a:r>
              </a:p>
              <a:p>
                <a:pPr marL="0" indent="0">
                  <a:buNone/>
                </a:pPr>
                <a:r>
                  <a:rPr lang="ru-RU" sz="2400" dirty="0" smtClean="0">
                    <a:latin typeface="+mj-lt"/>
                  </a:rPr>
                  <a:t>Для получения ответа необходимо найти минимум данной функции, так он будет соответствовать минимально</a:t>
                </a:r>
                <a:r>
                  <a:rPr lang="en-US" sz="2400" dirty="0" smtClean="0">
                    <a:latin typeface="+mj-lt"/>
                  </a:rPr>
                  <a:t> </a:t>
                </a:r>
                <a:r>
                  <a:rPr lang="ru-RU" sz="2400" dirty="0" smtClean="0">
                    <a:latin typeface="+mj-lt"/>
                  </a:rPr>
                  <a:t>возможному отклонению от </a:t>
                </a:r>
                <a:r>
                  <a:rPr lang="en-US" sz="2400" dirty="0" smtClean="0">
                    <a:latin typeface="+mj-lt"/>
                  </a:rPr>
                  <a:t>“</a:t>
                </a:r>
                <a:r>
                  <a:rPr lang="ru-RU" sz="2400" dirty="0" smtClean="0">
                    <a:latin typeface="+mj-lt"/>
                  </a:rPr>
                  <a:t>идеального</a:t>
                </a:r>
                <a:r>
                  <a:rPr lang="en-US" sz="2400" dirty="0" smtClean="0">
                    <a:latin typeface="+mj-lt"/>
                  </a:rPr>
                  <a:t>” </a:t>
                </a:r>
                <a:r>
                  <a:rPr lang="ru-RU" sz="2400" dirty="0" smtClean="0">
                    <a:latin typeface="+mj-lt"/>
                  </a:rPr>
                  <a:t>решения.</a:t>
                </a:r>
                <a:endParaRPr lang="en-US" sz="2400" dirty="0" smtClean="0">
                  <a:latin typeface="+mj-lt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4143998"/>
                <a:ext cx="10515600" cy="1416292"/>
              </a:xfrm>
              <a:blipFill>
                <a:blip r:embed="rId2"/>
                <a:stretch>
                  <a:fillRect l="-928" t="-6034" b="-4181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838200" y="3179680"/>
                <a:ext cx="61857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ru-RU" sz="28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800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 smtClean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ru-RU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endParaRPr lang="ru-RU" sz="28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179680"/>
                <a:ext cx="6185732" cy="523220"/>
              </a:xfrm>
              <a:prstGeom prst="rect">
                <a:avLst/>
              </a:prstGeom>
              <a:blipFill>
                <a:blip r:embed="rId3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Объект 2"/>
          <p:cNvSpPr txBox="1">
            <a:spLocks/>
          </p:cNvSpPr>
          <p:nvPr/>
        </p:nvSpPr>
        <p:spPr>
          <a:xfrm>
            <a:off x="990600" y="1978025"/>
            <a:ext cx="10515600" cy="899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ru-RU" sz="2400" dirty="0" smtClean="0">
                <a:latin typeface="+mj-lt"/>
              </a:rPr>
              <a:t>Общая квадратичная форма, по которой можно будет построить матрицу </a:t>
            </a:r>
            <a:r>
              <a:rPr lang="en-US" sz="2400" dirty="0" smtClean="0">
                <a:latin typeface="+mj-lt"/>
              </a:rPr>
              <a:t>QUBO:</a:t>
            </a:r>
          </a:p>
        </p:txBody>
      </p:sp>
    </p:spTree>
    <p:extLst>
      <p:ext uri="{BB962C8B-B14F-4D97-AF65-F5344CB8AC3E}">
        <p14:creationId xmlns:p14="http://schemas.microsoft.com/office/powerpoint/2010/main" val="2333654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B2EC6-0F3F-4393-8495-E2C9FB42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5305"/>
            <a:ext cx="10515600" cy="880351"/>
          </a:xfrm>
        </p:spPr>
        <p:txBody>
          <a:bodyPr>
            <a:normAutofit/>
          </a:bodyPr>
          <a:lstStyle/>
          <a:p>
            <a:r>
              <a:rPr lang="ru-RU" sz="3200" dirty="0"/>
              <a:t>Проблематика предложенного решения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20E105-7A30-4697-A207-72196DEFB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5183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dirty="0">
                <a:latin typeface="+mj-lt"/>
              </a:rPr>
              <a:t>Главной проблемой нашего решения, является высокая скорость возрастания сложности </a:t>
            </a:r>
            <a:r>
              <a:rPr lang="ru-RU" sz="2000" dirty="0" smtClean="0">
                <a:latin typeface="+mj-lt"/>
              </a:rPr>
              <a:t>вычисления, а так же в целом большое необходимое число бинарных единиц для ее решения (</a:t>
            </a:r>
            <a:r>
              <a:rPr lang="ru-RU" sz="2000" dirty="0" err="1" smtClean="0">
                <a:latin typeface="+mj-lt"/>
              </a:rPr>
              <a:t>кубитов</a:t>
            </a:r>
            <a:r>
              <a:rPr lang="ru-RU" sz="2000" dirty="0" smtClean="0">
                <a:latin typeface="+mj-lt"/>
              </a:rPr>
              <a:t>), что значительно увеличивает время работы программы, так как по ходу решения появляются помимо основных 1920 бинарных переменных еще и дополнительные. </a:t>
            </a:r>
            <a:endParaRPr lang="ru-RU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2947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240</Words>
  <Application>Microsoft Office PowerPoint</Application>
  <PresentationFormat>Широкоэкранный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Тема Office</vt:lpstr>
      <vt:lpstr>Задача №1</vt:lpstr>
      <vt:lpstr>Создание модели QUBO</vt:lpstr>
      <vt:lpstr>Бинарные переменные</vt:lpstr>
      <vt:lpstr>В день может быть поставлено не более 6 лекций в расписании группы.</vt:lpstr>
      <vt:lpstr>В день не может быть более двух занятий по одному предмету у группы.</vt:lpstr>
      <vt:lpstr>Так получилось, что преподаватель n1 не может вести лекции в среду, а n2 в понедельник, а n3 никак не может работать по субботам, n4, n5 – не могут вести занятия по вторникам.</vt:lpstr>
      <vt:lpstr>По требованию учебной программы для каждого предмета должно быть выделено 4 часа за период T = 2 недели для каждой группы.</vt:lpstr>
      <vt:lpstr>Каждый преподаватель имеет ограниченное число часов в неделю на работу E ≤ 20</vt:lpstr>
      <vt:lpstr>Решение</vt:lpstr>
      <vt:lpstr>Проблематика предложенного решения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№3</dc:title>
  <dc:creator>Alexsey Gorshkou</dc:creator>
  <cp:lastModifiedBy>User</cp:lastModifiedBy>
  <cp:revision>13</cp:revision>
  <dcterms:created xsi:type="dcterms:W3CDTF">2023-11-23T20:59:17Z</dcterms:created>
  <dcterms:modified xsi:type="dcterms:W3CDTF">2023-11-24T04:27:10Z</dcterms:modified>
</cp:coreProperties>
</file>